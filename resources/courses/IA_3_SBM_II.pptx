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630bf7f81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630bf7f8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630bf7f818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630bf7f818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63cace8f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63cace8f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63cace8f2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63cace8f2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63cace8f26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63cace8f26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0b5bfe4c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0b5bfe4c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63cace8f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63cace8f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a1f1ff1b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a1f1ff1b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63cace8f2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63cace8f2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63cace8f2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63cace8f2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63cace8f26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63cace8f26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e9513ae53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e9513ae53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63cace8f2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63cace8f26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e9513ae5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e9513ae5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63cace8f2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63cace8f2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f7dbe5cd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f7dbe5cd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63cace8f2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63cace8f2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63cace8f2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63cace8f2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63cace8f2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63cace8f2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63d41dcd1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63d41dcd1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63cace8f2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3cace8f2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63cace8f2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63cace8f2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63d559a6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63d559a6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63d559a6c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63d559a6c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f7dbe5cda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f7dbe5cda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63d559a6c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63d559a6c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8228578" y="-84975"/>
            <a:ext cx="792570" cy="792600"/>
          </a:xfrm>
          <a:prstGeom prst="rect">
            <a:avLst/>
          </a:prstGeom>
          <a:noFill/>
          <a:ln>
            <a:noFill/>
          </a:ln>
        </p:spPr>
      </p:pic>
      <p:pic>
        <p:nvPicPr>
          <p:cNvPr id="14" name="Google Shape;14;p2"/>
          <p:cNvPicPr preferRelativeResize="0"/>
          <p:nvPr/>
        </p:nvPicPr>
        <p:blipFill>
          <a:blip r:embed="rId3">
            <a:alphaModFix/>
          </a:blip>
          <a:stretch>
            <a:fillRect/>
          </a:stretch>
        </p:blipFill>
        <p:spPr>
          <a:xfrm>
            <a:off x="0" y="0"/>
            <a:ext cx="1029450" cy="857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youtube.com/watch?v=j1H3jAAGlEA&amp;list=PLUl4u3cNGP63gFHB6xb-kVBiQHYe_4hSi&amp;index=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www.cse.iitm.ac.in/~vplab/courses/optimization/SA_SEL_SLIDES.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redblobgames.com/pathfinding/a-star/introduction.html" TargetMode="External"/><Relationship Id="rId4" Type="http://schemas.openxmlformats.org/officeDocument/2006/relationships/hyperlink" Target="https://adrianstoll.com/post/a-star-pathfinding-algorithm-anim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718225"/>
            <a:ext cx="8520600" cy="85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Artificial Intelligence</a:t>
            </a:r>
            <a:endParaRPr>
              <a:latin typeface="Times New Roman"/>
              <a:ea typeface="Times New Roman"/>
              <a:cs typeface="Times New Roman"/>
              <a:sym typeface="Times New Roman"/>
            </a:endParaRPr>
          </a:p>
        </p:txBody>
      </p:sp>
      <p:sp>
        <p:nvSpPr>
          <p:cNvPr id="57" name="Google Shape;57;p13"/>
          <p:cNvSpPr txBox="1"/>
          <p:nvPr>
            <p:ph idx="1" type="subTitle"/>
          </p:nvPr>
        </p:nvSpPr>
        <p:spPr>
          <a:xfrm>
            <a:off x="311700" y="1266362"/>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3rd year, 1st semester</a:t>
            </a:r>
            <a:endParaRPr>
              <a:latin typeface="Times New Roman"/>
              <a:ea typeface="Times New Roman"/>
              <a:cs typeface="Times New Roman"/>
              <a:sym typeface="Times New Roman"/>
            </a:endParaRPr>
          </a:p>
        </p:txBody>
      </p:sp>
      <p:sp>
        <p:nvSpPr>
          <p:cNvPr id="58" name="Google Shape;58;p13"/>
          <p:cNvSpPr txBox="1"/>
          <p:nvPr/>
        </p:nvSpPr>
        <p:spPr>
          <a:xfrm>
            <a:off x="1303175" y="1937000"/>
            <a:ext cx="6658500" cy="186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p>
          <a:p>
            <a:pPr indent="0" lvl="0" marL="0" rtl="0" algn="ctr">
              <a:spcBef>
                <a:spcPts val="0"/>
              </a:spcBef>
              <a:spcAft>
                <a:spcPts val="0"/>
              </a:spcAft>
              <a:buNone/>
            </a:pPr>
            <a:r>
              <a:rPr lang="en" sz="2400"/>
              <a:t>State based models for decision problems</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1800"/>
              <a:t>Week 3: informed strategies and alternative problem spaces</a:t>
            </a:r>
            <a:endParaRPr sz="1800"/>
          </a:p>
        </p:txBody>
      </p:sp>
      <p:sp>
        <p:nvSpPr>
          <p:cNvPr id="59" name="Google Shape;59;p13"/>
          <p:cNvSpPr txBox="1"/>
          <p:nvPr/>
        </p:nvSpPr>
        <p:spPr>
          <a:xfrm>
            <a:off x="511025" y="3804200"/>
            <a:ext cx="8242800" cy="57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101010"/>
                </a:solidFill>
                <a:highlight>
                  <a:srgbClr val="FFFFFF"/>
                </a:highlight>
                <a:latin typeface="Verdana"/>
                <a:ea typeface="Verdana"/>
                <a:cs typeface="Verdana"/>
                <a:sym typeface="Verdana"/>
              </a:rPr>
              <a:t>“In any moment of decision, the best thing you can do is the right thing, the next best thing is the wrong thing, and the worst thing you can do is nothing.”  Theodore Roosevelt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Let’s find a NP-complete problem and a computer able to solve it</a:t>
            </a:r>
            <a:endParaRPr sz="24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Problem: finding a path in a graph</a:t>
            </a:r>
            <a:endParaRPr sz="24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3200"/>
              <a:buFont typeface="Arial"/>
              <a:buNone/>
            </a:pPr>
            <a:r>
              <a:rPr lang="en" sz="2400">
                <a:solidFill>
                  <a:schemeClr val="dk1"/>
                </a:solidFill>
                <a:latin typeface="Times New Roman"/>
                <a:ea typeface="Times New Roman"/>
                <a:cs typeface="Times New Roman"/>
                <a:sym typeface="Times New Roman"/>
              </a:rPr>
              <a:t>Describing a model - reducing a problem </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describe a state</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identify special states and the problem space</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describe the transitions and validate them</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specify a search strategy</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Search strategies</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Uninformed - no distinction between states</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Random</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BFS and Uniform Cost</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DFS and Iterative Deepening</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Backtracking</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Bidirectional</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Informed - heuristics to help distinguish between states</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Greedy best-first</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Hillclimbing and Simulated Annealing</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Beam search</a:t>
            </a:r>
            <a:endParaRPr sz="2400">
              <a:solidFill>
                <a:schemeClr val="dk1"/>
              </a:solidFill>
              <a:latin typeface="Times New Roman"/>
              <a:ea typeface="Times New Roman"/>
              <a:cs typeface="Times New Roman"/>
              <a:sym typeface="Times New Roman"/>
            </a:endParaRPr>
          </a:p>
          <a:p>
            <a:pPr indent="-381000" lvl="1"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A* and IDA*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172975" y="721425"/>
            <a:ext cx="4321500" cy="4316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 sz="2400">
                <a:solidFill>
                  <a:schemeClr val="dk1"/>
                </a:solidFill>
                <a:latin typeface="Times New Roman"/>
                <a:ea typeface="Times New Roman"/>
                <a:cs typeface="Times New Roman"/>
                <a:sym typeface="Times New Roman"/>
              </a:rPr>
              <a:t>Heuristics?</a:t>
            </a:r>
            <a:endParaRPr sz="24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Common sense is as good as a mathematical proof.</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Statistical proofs are hard to get and largely irrelevant.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Brute force (search) is great, but intelligence is faster.</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75" name="Google Shape;75;p16"/>
          <p:cNvPicPr preferRelativeResize="0"/>
          <p:nvPr/>
        </p:nvPicPr>
        <p:blipFill>
          <a:blip r:embed="rId3">
            <a:alphaModFix/>
          </a:blip>
          <a:stretch>
            <a:fillRect/>
          </a:stretch>
        </p:blipFill>
        <p:spPr>
          <a:xfrm>
            <a:off x="4494475" y="1219138"/>
            <a:ext cx="4514850" cy="3057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Finding a relevant heuristic</a:t>
            </a:r>
            <a:endParaRPr sz="24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 heuristic should </a:t>
            </a:r>
            <a:r>
              <a:rPr b="1" lang="en" sz="2400">
                <a:solidFill>
                  <a:schemeClr val="dk1"/>
                </a:solidFill>
                <a:latin typeface="Times New Roman"/>
                <a:ea typeface="Times New Roman"/>
                <a:cs typeface="Times New Roman"/>
                <a:sym typeface="Times New Roman"/>
              </a:rPr>
              <a:t>direct</a:t>
            </a:r>
            <a:r>
              <a:rPr lang="en" sz="2400">
                <a:solidFill>
                  <a:schemeClr val="dk1"/>
                </a:solidFill>
                <a:latin typeface="Times New Roman"/>
                <a:ea typeface="Times New Roman"/>
                <a:cs typeface="Times New Roman"/>
                <a:sym typeface="Times New Roman"/>
              </a:rPr>
              <a:t> the search towards the goal.</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Heuristic: function applied to any state, returns extreme and opposing values for </a:t>
            </a:r>
            <a:r>
              <a:rPr b="1" lang="en" sz="2400">
                <a:solidFill>
                  <a:schemeClr val="dk1"/>
                </a:solidFill>
                <a:latin typeface="Times New Roman"/>
                <a:ea typeface="Times New Roman"/>
                <a:cs typeface="Times New Roman"/>
                <a:sym typeface="Times New Roman"/>
              </a:rPr>
              <a:t>all</a:t>
            </a:r>
            <a:r>
              <a:rPr lang="en" sz="2400">
                <a:solidFill>
                  <a:schemeClr val="dk1"/>
                </a:solidFill>
                <a:latin typeface="Times New Roman"/>
                <a:ea typeface="Times New Roman"/>
                <a:cs typeface="Times New Roman"/>
                <a:sym typeface="Times New Roman"/>
              </a:rPr>
              <a:t> initial state(s) and for </a:t>
            </a:r>
            <a:r>
              <a:rPr b="1" lang="en" sz="2400">
                <a:solidFill>
                  <a:schemeClr val="dk1"/>
                </a:solidFill>
                <a:latin typeface="Times New Roman"/>
                <a:ea typeface="Times New Roman"/>
                <a:cs typeface="Times New Roman"/>
                <a:sym typeface="Times New Roman"/>
              </a:rPr>
              <a:t>at least one</a:t>
            </a:r>
            <a:r>
              <a:rPr lang="en" sz="2400">
                <a:solidFill>
                  <a:schemeClr val="dk1"/>
                </a:solidFill>
                <a:latin typeface="Times New Roman"/>
                <a:ea typeface="Times New Roman"/>
                <a:cs typeface="Times New Roman"/>
                <a:sym typeface="Times New Roman"/>
              </a:rPr>
              <a:t> final state(s).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h: S -&gt; [min, max], h(IS) = min/max, h(FS) = max/min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Types of h</a:t>
            </a:r>
            <a:r>
              <a:rPr lang="en" sz="2400">
                <a:solidFill>
                  <a:schemeClr val="dk1"/>
                </a:solidFill>
                <a:latin typeface="Times New Roman"/>
                <a:ea typeface="Times New Roman"/>
                <a:cs typeface="Times New Roman"/>
                <a:sym typeface="Times New Roman"/>
              </a:rPr>
              <a:t>euristics</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If h(IS) = max, h(FS) = 0, h is a </a:t>
            </a:r>
            <a:r>
              <a:rPr b="1" lang="en" sz="2400">
                <a:solidFill>
                  <a:schemeClr val="dk1"/>
                </a:solidFill>
                <a:latin typeface="Times New Roman"/>
                <a:ea typeface="Times New Roman"/>
                <a:cs typeface="Times New Roman"/>
                <a:sym typeface="Times New Roman"/>
              </a:rPr>
              <a:t>distance</a:t>
            </a:r>
            <a:r>
              <a:rPr lang="en" sz="2400">
                <a:solidFill>
                  <a:schemeClr val="dk1"/>
                </a:solidFill>
                <a:latin typeface="Times New Roman"/>
                <a:ea typeface="Times New Roman"/>
                <a:cs typeface="Times New Roman"/>
                <a:sym typeface="Times New Roman"/>
              </a:rPr>
              <a:t>. Below, h is a distance.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If h(S) &lt;= shortest_path(S,FS), h is </a:t>
            </a:r>
            <a:r>
              <a:rPr b="1" lang="en" sz="2400">
                <a:solidFill>
                  <a:schemeClr val="dk1"/>
                </a:solidFill>
                <a:latin typeface="Times New Roman"/>
                <a:ea typeface="Times New Roman"/>
                <a:cs typeface="Times New Roman"/>
                <a:sym typeface="Times New Roman"/>
              </a:rPr>
              <a:t>admissible</a:t>
            </a:r>
            <a:r>
              <a:rPr lang="en" sz="2400">
                <a:solidFill>
                  <a:schemeClr val="dk1"/>
                </a:solidFill>
                <a:latin typeface="Times New Roman"/>
                <a:ea typeface="Times New Roman"/>
                <a:cs typeface="Times New Roman"/>
                <a:sym typeface="Times New Roman"/>
              </a:rPr>
              <a:t>. An admissible heuristic never overestimates the shortest path in the problem space between a state and the goal.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If h(A) ≤ h(A,B) + h(B) if B is reachable from A, h is </a:t>
            </a:r>
            <a:r>
              <a:rPr b="1" lang="en" sz="2400">
                <a:solidFill>
                  <a:schemeClr val="dk1"/>
                </a:solidFill>
                <a:latin typeface="Times New Roman"/>
                <a:ea typeface="Times New Roman"/>
                <a:cs typeface="Times New Roman"/>
                <a:sym typeface="Times New Roman"/>
              </a:rPr>
              <a:t>consistent</a:t>
            </a:r>
            <a:r>
              <a:rPr lang="en" sz="2400">
                <a:solidFill>
                  <a:schemeClr val="dk1"/>
                </a:solidFill>
                <a:latin typeface="Times New Roman"/>
                <a:ea typeface="Times New Roman"/>
                <a:cs typeface="Times New Roman"/>
                <a:sym typeface="Times New Roman"/>
              </a:rPr>
              <a:t>. Requiring that a node is included in a path (solution) should estimate at least as lengthy paths.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Lets try finding a heuristic</a:t>
            </a:r>
            <a:endParaRPr sz="18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For Hanoi Towers:</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Number of pieces on the goal tower</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If starting tower is 1 and goal is n, sum of all values in a state</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For Sliding Puzzle:</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Number of pieces placed correctly</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For chess:</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How many pieces I have - how many pieces has the opponent?</a:t>
            </a:r>
            <a:endParaRPr sz="1800">
              <a:solidFill>
                <a:schemeClr val="dk1"/>
              </a:solidFill>
              <a:latin typeface="Times New Roman"/>
              <a:ea typeface="Times New Roman"/>
              <a:cs typeface="Times New Roman"/>
              <a:sym typeface="Times New Roman"/>
            </a:endParaRPr>
          </a:p>
          <a:p>
            <a:pPr indent="-342900" lvl="0" marL="914400" rtl="0" algn="l">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A maximal value - number of moves available to the opponent?</a:t>
            </a:r>
            <a:endParaRPr sz="1800">
              <a:solidFill>
                <a:schemeClr val="dk1"/>
              </a:solidFill>
              <a:latin typeface="Times New Roman"/>
              <a:ea typeface="Times New Roman"/>
              <a:cs typeface="Times New Roman"/>
              <a:sym typeface="Times New Roman"/>
            </a:endParaRPr>
          </a:p>
          <a:p>
            <a:pPr indent="0" lvl="0" marL="9144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b="1" lang="en" sz="1800">
                <a:solidFill>
                  <a:schemeClr val="dk1"/>
                </a:solidFill>
                <a:latin typeface="Times New Roman"/>
                <a:ea typeface="Times New Roman"/>
                <a:cs typeface="Times New Roman"/>
                <a:sym typeface="Times New Roman"/>
              </a:rPr>
              <a:t>h should always be relatively easy to compute, good enough is enough</a:t>
            </a:r>
            <a:endParaRPr b="1"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nvSpPr>
        <p:spPr>
          <a:xfrm>
            <a:off x="250500" y="733175"/>
            <a:ext cx="86970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Three way of looking at solutions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p</a:t>
            </a:r>
            <a:r>
              <a:rPr lang="en" sz="2000">
                <a:solidFill>
                  <a:schemeClr val="dk1"/>
                </a:solidFill>
                <a:latin typeface="Times New Roman"/>
                <a:ea typeface="Times New Roman"/>
                <a:cs typeface="Times New Roman"/>
                <a:sym typeface="Times New Roman"/>
              </a:rPr>
              <a:t>ath in a graph				path in a space			  heuristic function graph</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96" name="Google Shape;96;p20"/>
          <p:cNvSpPr/>
          <p:nvPr/>
        </p:nvSpPr>
        <p:spPr>
          <a:xfrm>
            <a:off x="392850" y="2664300"/>
            <a:ext cx="2230800" cy="2249400"/>
          </a:xfrm>
          <a:prstGeom prst="triangle">
            <a:avLst>
              <a:gd fmla="val 4888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0"/>
          <p:cNvSpPr/>
          <p:nvPr/>
        </p:nvSpPr>
        <p:spPr>
          <a:xfrm>
            <a:off x="714500" y="4767275"/>
            <a:ext cx="324900" cy="2823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0"/>
          <p:cNvSpPr/>
          <p:nvPr/>
        </p:nvSpPr>
        <p:spPr>
          <a:xfrm>
            <a:off x="1293975" y="2571750"/>
            <a:ext cx="324900" cy="2823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 name="Google Shape;99;p20"/>
          <p:cNvCxnSpPr>
            <a:stCxn id="97" idx="0"/>
            <a:endCxn id="98" idx="4"/>
          </p:cNvCxnSpPr>
          <p:nvPr/>
        </p:nvCxnSpPr>
        <p:spPr>
          <a:xfrm rot="-5400000">
            <a:off x="210200" y="3520925"/>
            <a:ext cx="1913100" cy="579600"/>
          </a:xfrm>
          <a:prstGeom prst="curvedConnector3">
            <a:avLst>
              <a:gd fmla="val 50003" name="adj1"/>
            </a:avLst>
          </a:prstGeom>
          <a:noFill/>
          <a:ln cap="flat" cmpd="sng" w="9525">
            <a:solidFill>
              <a:schemeClr val="dk2"/>
            </a:solidFill>
            <a:prstDash val="solid"/>
            <a:round/>
            <a:headEnd len="med" w="med" type="none"/>
            <a:tailEnd len="med" w="med" type="none"/>
          </a:ln>
        </p:spPr>
      </p:cxnSp>
      <p:sp>
        <p:nvSpPr>
          <p:cNvPr id="100" name="Google Shape;100;p20"/>
          <p:cNvSpPr/>
          <p:nvPr/>
        </p:nvSpPr>
        <p:spPr>
          <a:xfrm>
            <a:off x="3081972" y="2496524"/>
            <a:ext cx="2771280" cy="2417148"/>
          </a:xfrm>
          <a:prstGeom prst="cloud">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0"/>
          <p:cNvSpPr/>
          <p:nvPr/>
        </p:nvSpPr>
        <p:spPr>
          <a:xfrm>
            <a:off x="4295701" y="3576866"/>
            <a:ext cx="258000" cy="256500"/>
          </a:xfrm>
          <a:prstGeom prst="flowChar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0"/>
          <p:cNvSpPr/>
          <p:nvPr/>
        </p:nvSpPr>
        <p:spPr>
          <a:xfrm>
            <a:off x="4935458" y="3029671"/>
            <a:ext cx="258000" cy="256500"/>
          </a:xfrm>
          <a:prstGeom prst="flowChartSummingJunction">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4404878" y="2530812"/>
            <a:ext cx="590158" cy="1046101"/>
          </a:xfrm>
          <a:custGeom>
            <a:rect b="b" l="l" r="r" t="t"/>
            <a:pathLst>
              <a:path extrusionOk="0" h="48849" w="30448">
                <a:moveTo>
                  <a:pt x="1626" y="48849"/>
                </a:moveTo>
                <a:cubicBezTo>
                  <a:pt x="1404" y="41163"/>
                  <a:pt x="-295" y="4509"/>
                  <a:pt x="296" y="2735"/>
                </a:cubicBezTo>
                <a:cubicBezTo>
                  <a:pt x="887" y="961"/>
                  <a:pt x="3400" y="38281"/>
                  <a:pt x="5174" y="38207"/>
                </a:cubicBezTo>
                <a:cubicBezTo>
                  <a:pt x="6948" y="38133"/>
                  <a:pt x="9977" y="2069"/>
                  <a:pt x="10938" y="2291"/>
                </a:cubicBezTo>
                <a:cubicBezTo>
                  <a:pt x="11899" y="2513"/>
                  <a:pt x="8647" y="39907"/>
                  <a:pt x="10938" y="39537"/>
                </a:cubicBezTo>
                <a:cubicBezTo>
                  <a:pt x="13229" y="39168"/>
                  <a:pt x="23648" y="-222"/>
                  <a:pt x="24683" y="74"/>
                </a:cubicBezTo>
                <a:cubicBezTo>
                  <a:pt x="25718" y="370"/>
                  <a:pt x="16185" y="35842"/>
                  <a:pt x="17146" y="41311"/>
                </a:cubicBezTo>
                <a:cubicBezTo>
                  <a:pt x="18107" y="46780"/>
                  <a:pt x="28231" y="34290"/>
                  <a:pt x="30448" y="32886"/>
                </a:cubicBezTo>
              </a:path>
            </a:pathLst>
          </a:custGeom>
          <a:noFill/>
          <a:ln cap="flat" cmpd="sng" w="19050">
            <a:solidFill>
              <a:srgbClr val="595959"/>
            </a:solidFill>
            <a:prstDash val="solid"/>
            <a:round/>
            <a:headEnd len="med" w="med" type="none"/>
            <a:tailEnd len="med" w="med" type="none"/>
          </a:ln>
        </p:spPr>
      </p:sp>
      <p:cxnSp>
        <p:nvCxnSpPr>
          <p:cNvPr id="104" name="Google Shape;104;p20"/>
          <p:cNvCxnSpPr/>
          <p:nvPr/>
        </p:nvCxnSpPr>
        <p:spPr>
          <a:xfrm rot="10800000">
            <a:off x="6338093" y="2574545"/>
            <a:ext cx="0" cy="2181600"/>
          </a:xfrm>
          <a:prstGeom prst="straightConnector1">
            <a:avLst/>
          </a:prstGeom>
          <a:noFill/>
          <a:ln cap="flat" cmpd="sng" w="9525">
            <a:solidFill>
              <a:schemeClr val="dk2"/>
            </a:solidFill>
            <a:prstDash val="solid"/>
            <a:round/>
            <a:headEnd len="med" w="med" type="none"/>
            <a:tailEnd len="med" w="med" type="triangle"/>
          </a:ln>
        </p:spPr>
      </p:cxnSp>
      <p:cxnSp>
        <p:nvCxnSpPr>
          <p:cNvPr id="105" name="Google Shape;105;p20"/>
          <p:cNvCxnSpPr/>
          <p:nvPr/>
        </p:nvCxnSpPr>
        <p:spPr>
          <a:xfrm flipH="1" rot="10800000">
            <a:off x="6345589" y="4743425"/>
            <a:ext cx="2599500" cy="6300"/>
          </a:xfrm>
          <a:prstGeom prst="straightConnector1">
            <a:avLst/>
          </a:prstGeom>
          <a:noFill/>
          <a:ln cap="flat" cmpd="sng" w="9525">
            <a:solidFill>
              <a:schemeClr val="dk2"/>
            </a:solidFill>
            <a:prstDash val="solid"/>
            <a:round/>
            <a:headEnd len="med" w="med" type="none"/>
            <a:tailEnd len="med" w="med" type="triangle"/>
          </a:ln>
        </p:spPr>
      </p:cxnSp>
      <p:sp>
        <p:nvSpPr>
          <p:cNvPr id="106" name="Google Shape;106;p20"/>
          <p:cNvSpPr/>
          <p:nvPr/>
        </p:nvSpPr>
        <p:spPr>
          <a:xfrm>
            <a:off x="6225750" y="4643832"/>
            <a:ext cx="224700" cy="2055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0"/>
          <p:cNvSpPr/>
          <p:nvPr/>
        </p:nvSpPr>
        <p:spPr>
          <a:xfrm>
            <a:off x="8548098" y="2854035"/>
            <a:ext cx="254700" cy="2118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0"/>
          <p:cNvSpPr/>
          <p:nvPr/>
        </p:nvSpPr>
        <p:spPr>
          <a:xfrm>
            <a:off x="6405525" y="3065821"/>
            <a:ext cx="2240146" cy="1597701"/>
          </a:xfrm>
          <a:custGeom>
            <a:rect b="b" l="l" r="r" t="t"/>
            <a:pathLst>
              <a:path extrusionOk="0" h="116962" w="140448">
                <a:moveTo>
                  <a:pt x="0" y="116962"/>
                </a:moveTo>
                <a:cubicBezTo>
                  <a:pt x="2192" y="111169"/>
                  <a:pt x="1957" y="88935"/>
                  <a:pt x="13152" y="82202"/>
                </a:cubicBezTo>
                <a:cubicBezTo>
                  <a:pt x="24347" y="75469"/>
                  <a:pt x="54723" y="83768"/>
                  <a:pt x="67171" y="76565"/>
                </a:cubicBezTo>
                <a:cubicBezTo>
                  <a:pt x="79619" y="69363"/>
                  <a:pt x="77270" y="46111"/>
                  <a:pt x="87839" y="38987"/>
                </a:cubicBezTo>
                <a:cubicBezTo>
                  <a:pt x="98408" y="31863"/>
                  <a:pt x="121816" y="40318"/>
                  <a:pt x="130584" y="33820"/>
                </a:cubicBezTo>
                <a:cubicBezTo>
                  <a:pt x="139352" y="27322"/>
                  <a:pt x="138804" y="5637"/>
                  <a:pt x="140448" y="0"/>
                </a:cubicBezTo>
              </a:path>
            </a:pathLst>
          </a:custGeom>
          <a:noFill/>
          <a:ln cap="flat" cmpd="sng" w="9525">
            <a:solidFill>
              <a:schemeClr val="dk2"/>
            </a:solidFill>
            <a:prstDash val="solid"/>
            <a:round/>
            <a:headEnd len="med" w="med" type="none"/>
            <a:tailEnd len="med" w="med" type="none"/>
          </a:ln>
        </p:spPr>
      </p:sp>
      <p:sp>
        <p:nvSpPr>
          <p:cNvPr id="109" name="Google Shape;109;p20"/>
          <p:cNvSpPr txBox="1"/>
          <p:nvPr/>
        </p:nvSpPr>
        <p:spPr>
          <a:xfrm>
            <a:off x="6398022" y="2571750"/>
            <a:ext cx="5901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h(S)</a:t>
            </a:r>
            <a:endParaRPr/>
          </a:p>
        </p:txBody>
      </p:sp>
      <p:sp>
        <p:nvSpPr>
          <p:cNvPr id="110" name="Google Shape;110;p20"/>
          <p:cNvSpPr txBox="1"/>
          <p:nvPr/>
        </p:nvSpPr>
        <p:spPr>
          <a:xfrm>
            <a:off x="7902727" y="4560850"/>
            <a:ext cx="945000" cy="14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nvSpPr>
        <p:spPr>
          <a:xfrm>
            <a:off x="250500" y="733175"/>
            <a:ext cx="4321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Greedy (best-first)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Evaluate </a:t>
            </a:r>
            <a:r>
              <a:rPr b="1" lang="en" sz="2400">
                <a:solidFill>
                  <a:schemeClr val="dk1"/>
                </a:solidFill>
                <a:latin typeface="Times New Roman"/>
                <a:ea typeface="Times New Roman"/>
                <a:cs typeface="Times New Roman"/>
                <a:sym typeface="Times New Roman"/>
              </a:rPr>
              <a:t>all</a:t>
            </a:r>
            <a:r>
              <a:rPr lang="en" sz="2400">
                <a:solidFill>
                  <a:schemeClr val="dk1"/>
                </a:solidFill>
                <a:latin typeface="Times New Roman"/>
                <a:ea typeface="Times New Roman"/>
                <a:cs typeface="Times New Roman"/>
                <a:sym typeface="Times New Roman"/>
              </a:rPr>
              <a:t> unexplored states accessible from the current state.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Select the unexplored state closer to the goal (best score according to a heuristic).</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116" name="Google Shape;116;p21"/>
          <p:cNvSpPr/>
          <p:nvPr/>
        </p:nvSpPr>
        <p:spPr>
          <a:xfrm>
            <a:off x="4858525" y="1121550"/>
            <a:ext cx="3981000" cy="3592500"/>
          </a:xfrm>
          <a:prstGeom prst="triangle">
            <a:avLst>
              <a:gd fmla="val 48888"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1"/>
          <p:cNvSpPr/>
          <p:nvPr/>
        </p:nvSpPr>
        <p:spPr>
          <a:xfrm>
            <a:off x="5786250" y="4491000"/>
            <a:ext cx="446100" cy="4227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1"/>
          <p:cNvSpPr/>
          <p:nvPr/>
        </p:nvSpPr>
        <p:spPr>
          <a:xfrm>
            <a:off x="6573050" y="921050"/>
            <a:ext cx="446100" cy="4227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21"/>
          <p:cNvCxnSpPr>
            <a:stCxn id="117" idx="0"/>
            <a:endCxn id="118" idx="4"/>
          </p:cNvCxnSpPr>
          <p:nvPr/>
        </p:nvCxnSpPr>
        <p:spPr>
          <a:xfrm rot="-5400000">
            <a:off x="4829100" y="2523900"/>
            <a:ext cx="3147300" cy="786900"/>
          </a:xfrm>
          <a:prstGeom prst="curvedConnector3">
            <a:avLst>
              <a:gd fmla="val 49999"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nvSpPr>
        <p:spPr>
          <a:xfrm>
            <a:off x="250500" y="733175"/>
            <a:ext cx="4321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Greedy evaluation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Best case: gets you to the final state much quicker than DFS, doesn’t guarantee optimal solution.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Worst case: DFS with bad choices.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125" name="Google Shape;125;p22"/>
          <p:cNvSpPr/>
          <p:nvPr/>
        </p:nvSpPr>
        <p:spPr>
          <a:xfrm>
            <a:off x="7665000" y="4474175"/>
            <a:ext cx="446100" cy="4227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2"/>
          <p:cNvSpPr/>
          <p:nvPr/>
        </p:nvSpPr>
        <p:spPr>
          <a:xfrm>
            <a:off x="7218900" y="791875"/>
            <a:ext cx="446100" cy="4227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 name="Google Shape;127;p22"/>
          <p:cNvCxnSpPr>
            <a:stCxn id="125" idx="0"/>
          </p:cNvCxnSpPr>
          <p:nvPr/>
        </p:nvCxnSpPr>
        <p:spPr>
          <a:xfrm flipH="1" rot="5400000">
            <a:off x="6508350" y="3094475"/>
            <a:ext cx="2207700" cy="5517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28" name="Google Shape;128;p22"/>
          <p:cNvCxnSpPr/>
          <p:nvPr/>
        </p:nvCxnSpPr>
        <p:spPr>
          <a:xfrm>
            <a:off x="5386975" y="4685525"/>
            <a:ext cx="3370200" cy="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22"/>
          <p:cNvCxnSpPr>
            <a:endCxn id="126" idx="2"/>
          </p:cNvCxnSpPr>
          <p:nvPr/>
        </p:nvCxnSpPr>
        <p:spPr>
          <a:xfrm flipH="1" rot="10800000">
            <a:off x="5892000" y="1003225"/>
            <a:ext cx="1326900" cy="3708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30" name="Google Shape;130;p22"/>
          <p:cNvCxnSpPr>
            <a:endCxn id="126" idx="3"/>
          </p:cNvCxnSpPr>
          <p:nvPr/>
        </p:nvCxnSpPr>
        <p:spPr>
          <a:xfrm rot="-5400000">
            <a:off x="5737580" y="1741422"/>
            <a:ext cx="2135400" cy="957900"/>
          </a:xfrm>
          <a:prstGeom prst="curvedConnector3">
            <a:avLst>
              <a:gd fmla="val 48551" name="adj1"/>
            </a:avLst>
          </a:prstGeom>
          <a:noFill/>
          <a:ln cap="flat" cmpd="sng" w="9525">
            <a:solidFill>
              <a:schemeClr val="dk2"/>
            </a:solidFill>
            <a:prstDash val="solid"/>
            <a:round/>
            <a:headEnd len="med" w="med" type="none"/>
            <a:tailEnd len="med" w="med" type="none"/>
          </a:ln>
        </p:spPr>
      </p:cxnSp>
      <p:cxnSp>
        <p:nvCxnSpPr>
          <p:cNvPr id="131" name="Google Shape;131;p22"/>
          <p:cNvCxnSpPr/>
          <p:nvPr/>
        </p:nvCxnSpPr>
        <p:spPr>
          <a:xfrm flipH="1" rot="10800000">
            <a:off x="6326425" y="1374050"/>
            <a:ext cx="1937400" cy="1902300"/>
          </a:xfrm>
          <a:prstGeom prst="curvedConnector3">
            <a:avLst>
              <a:gd fmla="val 50000" name="adj1"/>
            </a:avLst>
          </a:prstGeom>
          <a:noFill/>
          <a:ln cap="flat" cmpd="sng" w="9525">
            <a:solidFill>
              <a:schemeClr val="dk2"/>
            </a:solidFill>
            <a:prstDash val="solid"/>
            <a:round/>
            <a:headEnd len="med" w="med" type="none"/>
            <a:tailEnd len="med" w="med" type="none"/>
          </a:ln>
        </p:spPr>
      </p:cxnSp>
      <p:sp>
        <p:nvSpPr>
          <p:cNvPr id="132" name="Google Shape;132;p22"/>
          <p:cNvSpPr txBox="1"/>
          <p:nvPr/>
        </p:nvSpPr>
        <p:spPr>
          <a:xfrm>
            <a:off x="7124875" y="1891600"/>
            <a:ext cx="3405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a:t>
            </a:r>
            <a:endParaRPr b="1" sz="2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nvSpPr>
        <p:spPr>
          <a:xfrm>
            <a:off x="74525" y="733175"/>
            <a:ext cx="46080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Hillclimbing</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Select one accessible state which is at least as close to the final state as the current one.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 is not a distance! h(IS) = min, h(FS) = max</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h(NewState) ≥ h(CurrentState)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900">
              <a:solidFill>
                <a:schemeClr val="dk1"/>
              </a:solidFill>
              <a:latin typeface="Times New Roman"/>
              <a:ea typeface="Times New Roman"/>
              <a:cs typeface="Times New Roman"/>
              <a:sym typeface="Times New Roman"/>
            </a:endParaRPr>
          </a:p>
        </p:txBody>
      </p:sp>
      <p:cxnSp>
        <p:nvCxnSpPr>
          <p:cNvPr id="138" name="Google Shape;138;p23"/>
          <p:cNvCxnSpPr/>
          <p:nvPr/>
        </p:nvCxnSpPr>
        <p:spPr>
          <a:xfrm rot="10800000">
            <a:off x="4858525" y="686175"/>
            <a:ext cx="0" cy="399270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p23"/>
          <p:cNvCxnSpPr/>
          <p:nvPr/>
        </p:nvCxnSpPr>
        <p:spPr>
          <a:xfrm flipH="1" rot="10800000">
            <a:off x="4870275" y="4655425"/>
            <a:ext cx="4074900" cy="11700"/>
          </a:xfrm>
          <a:prstGeom prst="straightConnector1">
            <a:avLst/>
          </a:prstGeom>
          <a:noFill/>
          <a:ln cap="flat" cmpd="sng" w="9525">
            <a:solidFill>
              <a:schemeClr val="dk2"/>
            </a:solidFill>
            <a:prstDash val="solid"/>
            <a:round/>
            <a:headEnd len="med" w="med" type="none"/>
            <a:tailEnd len="med" w="med" type="triangle"/>
          </a:ln>
        </p:spPr>
      </p:cxnSp>
      <p:sp>
        <p:nvSpPr>
          <p:cNvPr id="140" name="Google Shape;140;p23"/>
          <p:cNvSpPr/>
          <p:nvPr/>
        </p:nvSpPr>
        <p:spPr>
          <a:xfrm>
            <a:off x="4682425" y="4473325"/>
            <a:ext cx="352200" cy="3759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3"/>
          <p:cNvSpPr/>
          <p:nvPr/>
        </p:nvSpPr>
        <p:spPr>
          <a:xfrm>
            <a:off x="8322750" y="1197725"/>
            <a:ext cx="399300" cy="3876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3"/>
          <p:cNvSpPr/>
          <p:nvPr/>
        </p:nvSpPr>
        <p:spPr>
          <a:xfrm>
            <a:off x="4964225" y="1585325"/>
            <a:ext cx="3511200" cy="2924050"/>
          </a:xfrm>
          <a:custGeom>
            <a:rect b="b" l="l" r="r" t="t"/>
            <a:pathLst>
              <a:path extrusionOk="0" h="116962" w="140448">
                <a:moveTo>
                  <a:pt x="0" y="116962"/>
                </a:moveTo>
                <a:cubicBezTo>
                  <a:pt x="2192" y="111169"/>
                  <a:pt x="1957" y="88935"/>
                  <a:pt x="13152" y="82202"/>
                </a:cubicBezTo>
                <a:cubicBezTo>
                  <a:pt x="24347" y="75469"/>
                  <a:pt x="54723" y="83768"/>
                  <a:pt x="67171" y="76565"/>
                </a:cubicBezTo>
                <a:cubicBezTo>
                  <a:pt x="79619" y="69363"/>
                  <a:pt x="77270" y="46111"/>
                  <a:pt x="87839" y="38987"/>
                </a:cubicBezTo>
                <a:cubicBezTo>
                  <a:pt x="98408" y="31863"/>
                  <a:pt x="121816" y="40318"/>
                  <a:pt x="130584" y="33820"/>
                </a:cubicBezTo>
                <a:cubicBezTo>
                  <a:pt x="139352" y="27322"/>
                  <a:pt x="138804" y="5637"/>
                  <a:pt x="140448" y="0"/>
                </a:cubicBezTo>
              </a:path>
            </a:pathLst>
          </a:custGeom>
          <a:noFill/>
          <a:ln cap="flat" cmpd="sng" w="9525">
            <a:solidFill>
              <a:schemeClr val="dk2"/>
            </a:solidFill>
            <a:prstDash val="solid"/>
            <a:round/>
            <a:headEnd len="med" w="med" type="none"/>
            <a:tailEnd len="med" w="med" type="none"/>
          </a:ln>
        </p:spPr>
      </p:sp>
      <p:sp>
        <p:nvSpPr>
          <p:cNvPr id="143" name="Google Shape;143;p23"/>
          <p:cNvSpPr txBox="1"/>
          <p:nvPr/>
        </p:nvSpPr>
        <p:spPr>
          <a:xfrm>
            <a:off x="4952475" y="681100"/>
            <a:ext cx="5637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h(S)</a:t>
            </a:r>
            <a:endParaRPr/>
          </a:p>
        </p:txBody>
      </p:sp>
      <p:sp>
        <p:nvSpPr>
          <p:cNvPr id="144" name="Google Shape;144;p23"/>
          <p:cNvSpPr txBox="1"/>
          <p:nvPr/>
        </p:nvSpPr>
        <p:spPr>
          <a:xfrm>
            <a:off x="7946975" y="4321450"/>
            <a:ext cx="8454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nvSpPr>
        <p:spPr>
          <a:xfrm>
            <a:off x="250500" y="733175"/>
            <a:ext cx="4321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Hillclimbing evaluation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Best case: fastest general strategy.</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Worst case: fails to find a solution (local optimum).</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u="sng">
                <a:solidFill>
                  <a:schemeClr val="accent5"/>
                </a:solidFill>
                <a:latin typeface="Times New Roman"/>
                <a:ea typeface="Times New Roman"/>
                <a:cs typeface="Times New Roman"/>
                <a:sym typeface="Times New Roman"/>
                <a:hlinkClick r:id="rId3">
                  <a:extLst>
                    <a:ext uri="{A12FA001-AC4F-418D-AE19-62706E023703}">
                      <ahyp:hlinkClr val="tx"/>
                    </a:ext>
                  </a:extLst>
                </a:hlinkClick>
              </a:rPr>
              <a:t>https://www.youtube.com/watch?v=j1H3jAAGlEA&amp;list=PLUl4u3cNGP63gFHB6xb-kVBiQHYe_4hSi&amp;index=4</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cxnSp>
        <p:nvCxnSpPr>
          <p:cNvPr id="150" name="Google Shape;150;p24"/>
          <p:cNvCxnSpPr/>
          <p:nvPr/>
        </p:nvCxnSpPr>
        <p:spPr>
          <a:xfrm rot="10800000">
            <a:off x="4858525" y="686175"/>
            <a:ext cx="0" cy="39927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4"/>
          <p:cNvCxnSpPr/>
          <p:nvPr/>
        </p:nvCxnSpPr>
        <p:spPr>
          <a:xfrm flipH="1" rot="10800000">
            <a:off x="4870275" y="4655425"/>
            <a:ext cx="4074900" cy="11700"/>
          </a:xfrm>
          <a:prstGeom prst="straightConnector1">
            <a:avLst/>
          </a:prstGeom>
          <a:noFill/>
          <a:ln cap="flat" cmpd="sng" w="9525">
            <a:solidFill>
              <a:schemeClr val="dk2"/>
            </a:solidFill>
            <a:prstDash val="solid"/>
            <a:round/>
            <a:headEnd len="med" w="med" type="none"/>
            <a:tailEnd len="med" w="med" type="triangle"/>
          </a:ln>
        </p:spPr>
      </p:cxnSp>
      <p:sp>
        <p:nvSpPr>
          <p:cNvPr id="152" name="Google Shape;152;p24"/>
          <p:cNvSpPr/>
          <p:nvPr/>
        </p:nvSpPr>
        <p:spPr>
          <a:xfrm>
            <a:off x="4682425" y="4473325"/>
            <a:ext cx="352200" cy="3759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4"/>
          <p:cNvSpPr/>
          <p:nvPr/>
        </p:nvSpPr>
        <p:spPr>
          <a:xfrm>
            <a:off x="8322750" y="1197725"/>
            <a:ext cx="399300" cy="3876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4"/>
          <p:cNvSpPr/>
          <p:nvPr/>
        </p:nvSpPr>
        <p:spPr>
          <a:xfrm>
            <a:off x="4964225" y="1585325"/>
            <a:ext cx="3511200" cy="2924050"/>
          </a:xfrm>
          <a:custGeom>
            <a:rect b="b" l="l" r="r" t="t"/>
            <a:pathLst>
              <a:path extrusionOk="0" h="116962" w="140448">
                <a:moveTo>
                  <a:pt x="0" y="116962"/>
                </a:moveTo>
                <a:cubicBezTo>
                  <a:pt x="2192" y="111169"/>
                  <a:pt x="1957" y="88935"/>
                  <a:pt x="13152" y="82202"/>
                </a:cubicBezTo>
                <a:cubicBezTo>
                  <a:pt x="24347" y="75469"/>
                  <a:pt x="54802" y="88196"/>
                  <a:pt x="67171" y="76565"/>
                </a:cubicBezTo>
                <a:cubicBezTo>
                  <a:pt x="79541" y="64934"/>
                  <a:pt x="76800" y="19540"/>
                  <a:pt x="87369" y="12416"/>
                </a:cubicBezTo>
                <a:cubicBezTo>
                  <a:pt x="97938" y="5292"/>
                  <a:pt x="121738" y="35889"/>
                  <a:pt x="130584" y="33820"/>
                </a:cubicBezTo>
                <a:cubicBezTo>
                  <a:pt x="139431" y="31751"/>
                  <a:pt x="138804" y="5637"/>
                  <a:pt x="140448" y="0"/>
                </a:cubicBezTo>
              </a:path>
            </a:pathLst>
          </a:custGeom>
          <a:noFill/>
          <a:ln cap="flat" cmpd="sng" w="9525">
            <a:solidFill>
              <a:schemeClr val="dk2"/>
            </a:solidFill>
            <a:prstDash val="solid"/>
            <a:round/>
            <a:headEnd len="med" w="med" type="none"/>
            <a:tailEnd len="med" w="med" type="none"/>
          </a:ln>
        </p:spPr>
      </p:sp>
      <p:sp>
        <p:nvSpPr>
          <p:cNvPr id="155" name="Google Shape;155;p24"/>
          <p:cNvSpPr txBox="1"/>
          <p:nvPr/>
        </p:nvSpPr>
        <p:spPr>
          <a:xfrm>
            <a:off x="4952475" y="681100"/>
            <a:ext cx="563700" cy="38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h(S)</a:t>
            </a:r>
            <a:endParaRPr/>
          </a:p>
        </p:txBody>
      </p:sp>
      <p:sp>
        <p:nvSpPr>
          <p:cNvPr id="156" name="Google Shape;156;p24"/>
          <p:cNvSpPr txBox="1"/>
          <p:nvPr/>
        </p:nvSpPr>
        <p:spPr>
          <a:xfrm>
            <a:off x="7946975" y="4321450"/>
            <a:ext cx="845400" cy="2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157" name="Google Shape;157;p24"/>
          <p:cNvSpPr txBox="1"/>
          <p:nvPr/>
        </p:nvSpPr>
        <p:spPr>
          <a:xfrm>
            <a:off x="7066025" y="1585325"/>
            <a:ext cx="340500" cy="42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a:t>
            </a:r>
            <a:endParaRPr b="1"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Hillclimbing</a:t>
            </a:r>
            <a:r>
              <a:rPr lang="en" sz="2400">
                <a:solidFill>
                  <a:schemeClr val="dk1"/>
                </a:solidFill>
                <a:latin typeface="Times New Roman"/>
                <a:ea typeface="Times New Roman"/>
                <a:cs typeface="Times New Roman"/>
                <a:sym typeface="Times New Roman"/>
              </a:rPr>
              <a:t> Selection Algorithm</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eligible_neighbors</a:t>
            </a:r>
            <a:r>
              <a:rPr lang="en" sz="1200">
                <a:solidFill>
                  <a:schemeClr val="dk1"/>
                </a:solidFill>
                <a:latin typeface="Courier New"/>
                <a:ea typeface="Courier New"/>
                <a:cs typeface="Courier New"/>
                <a:sym typeface="Courier New"/>
              </a:rPr>
              <a:t> =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For each state n </a:t>
            </a:r>
            <a:r>
              <a:rPr lang="en" sz="1200">
                <a:solidFill>
                  <a:schemeClr val="dk1"/>
                </a:solidFill>
                <a:latin typeface="Courier New"/>
                <a:ea typeface="Courier New"/>
                <a:cs typeface="Courier New"/>
                <a:sym typeface="Courier New"/>
              </a:rPr>
              <a:t>reachable</a:t>
            </a:r>
            <a:r>
              <a:rPr lang="en" sz="1200">
                <a:solidFill>
                  <a:schemeClr val="dk1"/>
                </a:solidFill>
                <a:latin typeface="Courier New"/>
                <a:ea typeface="Courier New"/>
                <a:cs typeface="Courier New"/>
                <a:sym typeface="Courier New"/>
              </a:rPr>
              <a:t> from current_state applying one valid transition</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If h(n)better than h(current_state) add n to </a:t>
            </a:r>
            <a:r>
              <a:rPr lang="en" sz="1200">
                <a:solidFill>
                  <a:schemeClr val="dk1"/>
                </a:solidFill>
                <a:latin typeface="Courier New"/>
                <a:ea typeface="Courier New"/>
                <a:cs typeface="Courier New"/>
                <a:sym typeface="Courier New"/>
              </a:rPr>
              <a:t>eligible_neighbors;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Select</a:t>
            </a:r>
            <a:r>
              <a:rPr lang="en" sz="1200">
                <a:solidFill>
                  <a:schemeClr val="dk1"/>
                </a:solidFill>
                <a:latin typeface="Courier New"/>
                <a:ea typeface="Courier New"/>
                <a:cs typeface="Courier New"/>
                <a:sym typeface="Courier New"/>
              </a:rPr>
              <a:t> next_state from eligible_neighbors;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Frequently used selections: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First one found - most common</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Best one (greedy)</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All, in the order they were found, choosing next state available if stuck (hillclimbing-backtracking)</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Simulated</a:t>
            </a:r>
            <a:r>
              <a:rPr lang="en" sz="2400">
                <a:solidFill>
                  <a:schemeClr val="dk1"/>
                </a:solidFill>
                <a:latin typeface="Times New Roman"/>
                <a:ea typeface="Times New Roman"/>
                <a:cs typeface="Times New Roman"/>
                <a:sym typeface="Times New Roman"/>
              </a:rPr>
              <a:t> annealing</a:t>
            </a:r>
            <a:endParaRPr sz="24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Hillclimbing, but allows choosing a state further away from the goal, with an ever decreasing probability the closer you get to the goal state.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No more local optimum.</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Slower than hillclimbing.</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3"/>
              </a:rPr>
              <a:t>http://www.cse.iitm.ac.in/~vplab/courses/optimization/SA_SEL_SLIDES.pdf</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Beam search</a:t>
            </a:r>
            <a:endParaRPr sz="2400">
              <a:solidFill>
                <a:schemeClr val="dk1"/>
              </a:solidFill>
              <a:latin typeface="Times New Roman"/>
              <a:ea typeface="Times New Roman"/>
              <a:cs typeface="Times New Roman"/>
              <a:sym typeface="Times New Roman"/>
            </a:endParaRPr>
          </a:p>
          <a:p>
            <a:pPr indent="-139700" lvl="0" marL="34290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BFS but only keeps in a sorted list best </a:t>
            </a:r>
            <a:r>
              <a:rPr i="1" lang="en" sz="2400">
                <a:solidFill>
                  <a:schemeClr val="dk1"/>
                </a:solidFill>
                <a:latin typeface="Times New Roman"/>
                <a:ea typeface="Times New Roman"/>
                <a:cs typeface="Times New Roman"/>
                <a:sym typeface="Times New Roman"/>
              </a:rPr>
              <a:t>k</a:t>
            </a:r>
            <a:r>
              <a:rPr lang="en" sz="2400">
                <a:solidFill>
                  <a:schemeClr val="dk1"/>
                </a:solidFill>
                <a:latin typeface="Times New Roman"/>
                <a:ea typeface="Times New Roman"/>
                <a:cs typeface="Times New Roman"/>
                <a:sym typeface="Times New Roman"/>
              </a:rPr>
              <a:t> visited states. The list should be re-sorted and extra states </a:t>
            </a:r>
            <a:r>
              <a:rPr lang="en" sz="2400">
                <a:solidFill>
                  <a:schemeClr val="dk1"/>
                </a:solidFill>
                <a:latin typeface="Times New Roman"/>
                <a:ea typeface="Times New Roman"/>
                <a:cs typeface="Times New Roman"/>
                <a:sym typeface="Times New Roman"/>
              </a:rPr>
              <a:t>removed</a:t>
            </a:r>
            <a:r>
              <a:rPr lang="en" sz="2400">
                <a:solidFill>
                  <a:schemeClr val="dk1"/>
                </a:solidFill>
                <a:latin typeface="Times New Roman"/>
                <a:ea typeface="Times New Roman"/>
                <a:cs typeface="Times New Roman"/>
                <a:sym typeface="Times New Roman"/>
              </a:rPr>
              <a:t> after every new explored state.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Explores all states in the sorted list until the final state is found - should be first in the list.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Does not guarantee the optimum solution!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 and IDA*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A* is mostly Dijkstra combined with Greedy, IDA* is informed IDDFS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IDDFS explores nodes by distance from initial state d(S)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A* explores nodes by d(S) + h(S), where h(S) is the estimated distance to the goal state (h has to be an </a:t>
            </a:r>
            <a:r>
              <a:rPr lang="en" sz="1800">
                <a:solidFill>
                  <a:schemeClr val="dk1"/>
                </a:solidFill>
                <a:latin typeface="Times New Roman"/>
                <a:ea typeface="Times New Roman"/>
                <a:cs typeface="Times New Roman"/>
                <a:sym typeface="Times New Roman"/>
              </a:rPr>
              <a:t>admissible</a:t>
            </a:r>
            <a:r>
              <a:rPr lang="en" sz="1800">
                <a:solidFill>
                  <a:schemeClr val="dk1"/>
                </a:solidFill>
                <a:latin typeface="Times New Roman"/>
                <a:ea typeface="Times New Roman"/>
                <a:cs typeface="Times New Roman"/>
                <a:sym typeface="Times New Roman"/>
              </a:rPr>
              <a:t> heuristic and a distance)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dk1"/>
                </a:solidFill>
                <a:latin typeface="Times New Roman"/>
                <a:ea typeface="Times New Roman"/>
                <a:cs typeface="Times New Roman"/>
                <a:sym typeface="Times New Roman"/>
              </a:rPr>
              <a:t>Always chooses the unexplored state which is closest to both the initial state and the goal state.</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3"/>
              </a:rPr>
              <a:t>https://www.redblobgames.com/pathfinding/a-star/introduction.html</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4"/>
              </a:rPr>
              <a:t>https://adrianstoll.com/post/a-star-pathfinding-algorithm-animation/</a:t>
            </a:r>
            <a:r>
              <a:rPr lang="en" sz="18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 Algorithm</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Current_state = Initial_state;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Best_score = maximum of h;</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Sorted_queue = {All neighbours of Current_state, with computed h+1 scores, marked as unexplored};</a:t>
            </a:r>
            <a:endParaRPr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While the score of the first unexplored state S in Sorted_queue is lower than Best_score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If S is a final state, Best_score = score of 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Mark S as explored; </a:t>
            </a:r>
            <a:endParaRPr sz="1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sz="1200">
                <a:solidFill>
                  <a:schemeClr val="dk1"/>
                </a:solidFill>
                <a:latin typeface="Courier New"/>
                <a:ea typeface="Courier New"/>
                <a:cs typeface="Courier New"/>
                <a:sym typeface="Courier New"/>
              </a:rPr>
              <a:t>Add to Sorted_queue all its neighbours with computed h+d score and mark them unexplored;</a:t>
            </a:r>
            <a:endParaRPr sz="12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sz="1200">
                <a:solidFill>
                  <a:schemeClr val="dk1"/>
                </a:solidFill>
                <a:latin typeface="Courier New"/>
                <a:ea typeface="Courier New"/>
                <a:cs typeface="Courier New"/>
                <a:sym typeface="Courier New"/>
              </a:rPr>
              <a:t>If a duplicate state appears in Sorted_queue, keep only the occurrence with lowest score and transfer explored status;</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Sort Sorted_queue;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The optimal path is recovered from the last state updating Best_score and looking for explored neighbours with lower score up to the initial state.</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latin typeface="Courier New"/>
                <a:ea typeface="Courier New"/>
                <a:cs typeface="Courier New"/>
                <a:sym typeface="Courier New"/>
              </a:rPr>
              <a:t>	</a:t>
            </a:r>
            <a:endParaRPr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nvSpPr>
        <p:spPr>
          <a:xfrm>
            <a:off x="172975" y="721425"/>
            <a:ext cx="43332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Always finds the optimum solution.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Really?</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188" name="Google Shape;188;p30"/>
          <p:cNvSpPr/>
          <p:nvPr/>
        </p:nvSpPr>
        <p:spPr>
          <a:xfrm>
            <a:off x="5046425" y="2571750"/>
            <a:ext cx="516600" cy="5100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0"/>
          <p:cNvSpPr/>
          <p:nvPr/>
        </p:nvSpPr>
        <p:spPr>
          <a:xfrm>
            <a:off x="7935250" y="2571750"/>
            <a:ext cx="516600" cy="5100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0"/>
          <p:cNvSpPr/>
          <p:nvPr/>
        </p:nvSpPr>
        <p:spPr>
          <a:xfrm>
            <a:off x="6455600" y="1625650"/>
            <a:ext cx="516600" cy="510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t>A</a:t>
            </a:r>
            <a:endParaRPr b="1" sz="1800"/>
          </a:p>
        </p:txBody>
      </p:sp>
      <p:sp>
        <p:nvSpPr>
          <p:cNvPr id="191" name="Google Shape;191;p30"/>
          <p:cNvSpPr/>
          <p:nvPr/>
        </p:nvSpPr>
        <p:spPr>
          <a:xfrm>
            <a:off x="6455600" y="3774375"/>
            <a:ext cx="516600" cy="510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t>B</a:t>
            </a:r>
            <a:endParaRPr b="1" sz="1800"/>
          </a:p>
        </p:txBody>
      </p:sp>
      <p:cxnSp>
        <p:nvCxnSpPr>
          <p:cNvPr id="192" name="Google Shape;192;p30"/>
          <p:cNvCxnSpPr>
            <a:stCxn id="188" idx="7"/>
            <a:endCxn id="190" idx="3"/>
          </p:cNvCxnSpPr>
          <p:nvPr/>
        </p:nvCxnSpPr>
        <p:spPr>
          <a:xfrm flipH="1" rot="10800000">
            <a:off x="5487371" y="2060838"/>
            <a:ext cx="1044000" cy="585600"/>
          </a:xfrm>
          <a:prstGeom prst="straightConnector1">
            <a:avLst/>
          </a:prstGeom>
          <a:noFill/>
          <a:ln cap="flat" cmpd="sng" w="9525">
            <a:solidFill>
              <a:schemeClr val="dk2"/>
            </a:solidFill>
            <a:prstDash val="solid"/>
            <a:round/>
            <a:headEnd len="med" w="med" type="none"/>
            <a:tailEnd len="med" w="med" type="triangle"/>
          </a:ln>
        </p:spPr>
      </p:cxnSp>
      <p:sp>
        <p:nvSpPr>
          <p:cNvPr id="193" name="Google Shape;193;p30"/>
          <p:cNvSpPr txBox="1"/>
          <p:nvPr/>
        </p:nvSpPr>
        <p:spPr>
          <a:xfrm>
            <a:off x="5692300" y="2060150"/>
            <a:ext cx="3522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5</a:t>
            </a:r>
            <a:endParaRPr/>
          </a:p>
        </p:txBody>
      </p:sp>
      <p:cxnSp>
        <p:nvCxnSpPr>
          <p:cNvPr id="194" name="Google Shape;194;p30"/>
          <p:cNvCxnSpPr>
            <a:stCxn id="188" idx="5"/>
            <a:endCxn id="191" idx="1"/>
          </p:cNvCxnSpPr>
          <p:nvPr/>
        </p:nvCxnSpPr>
        <p:spPr>
          <a:xfrm>
            <a:off x="5487371" y="3007062"/>
            <a:ext cx="1044000" cy="8421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30"/>
          <p:cNvCxnSpPr>
            <a:stCxn id="190" idx="6"/>
            <a:endCxn id="189" idx="1"/>
          </p:cNvCxnSpPr>
          <p:nvPr/>
        </p:nvCxnSpPr>
        <p:spPr>
          <a:xfrm>
            <a:off x="6972200" y="1880650"/>
            <a:ext cx="1038600" cy="765900"/>
          </a:xfrm>
          <a:prstGeom prst="straightConnector1">
            <a:avLst/>
          </a:prstGeom>
          <a:noFill/>
          <a:ln cap="flat" cmpd="sng" w="9525">
            <a:solidFill>
              <a:schemeClr val="dk2"/>
            </a:solidFill>
            <a:prstDash val="dash"/>
            <a:round/>
            <a:headEnd len="med" w="med" type="none"/>
            <a:tailEnd len="med" w="med" type="triangle"/>
          </a:ln>
        </p:spPr>
      </p:cxnSp>
      <p:cxnSp>
        <p:nvCxnSpPr>
          <p:cNvPr id="196" name="Google Shape;196;p30"/>
          <p:cNvCxnSpPr>
            <a:stCxn id="191" idx="6"/>
            <a:endCxn id="189" idx="3"/>
          </p:cNvCxnSpPr>
          <p:nvPr/>
        </p:nvCxnSpPr>
        <p:spPr>
          <a:xfrm flipH="1" rot="10800000">
            <a:off x="6972200" y="3006975"/>
            <a:ext cx="1038600" cy="1022400"/>
          </a:xfrm>
          <a:prstGeom prst="straightConnector1">
            <a:avLst/>
          </a:prstGeom>
          <a:noFill/>
          <a:ln cap="flat" cmpd="sng" w="9525">
            <a:solidFill>
              <a:schemeClr val="dk2"/>
            </a:solidFill>
            <a:prstDash val="dash"/>
            <a:round/>
            <a:headEnd len="med" w="med" type="none"/>
            <a:tailEnd len="med" w="med" type="triangle"/>
          </a:ln>
        </p:spPr>
      </p:cxnSp>
      <p:sp>
        <p:nvSpPr>
          <p:cNvPr id="197" name="Google Shape;197;p30"/>
          <p:cNvSpPr txBox="1"/>
          <p:nvPr/>
        </p:nvSpPr>
        <p:spPr>
          <a:xfrm>
            <a:off x="5868375" y="3081750"/>
            <a:ext cx="2820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98" name="Google Shape;198;p30"/>
          <p:cNvSpPr txBox="1"/>
          <p:nvPr/>
        </p:nvSpPr>
        <p:spPr>
          <a:xfrm>
            <a:off x="7371575" y="1714675"/>
            <a:ext cx="14208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 = 1</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9" name="Google Shape;199;p30"/>
          <p:cNvSpPr txBox="1"/>
          <p:nvPr/>
        </p:nvSpPr>
        <p:spPr>
          <a:xfrm>
            <a:off x="7483150" y="3519375"/>
            <a:ext cx="14208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h(B) = 4</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nvSpPr>
        <p:spPr>
          <a:xfrm>
            <a:off x="172975" y="721425"/>
            <a:ext cx="43332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Always finds the optimum solution.</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Don’t stop when you find the goal state! Keep looking until all states with better scores have been explored.</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205" name="Google Shape;205;p31"/>
          <p:cNvSpPr/>
          <p:nvPr/>
        </p:nvSpPr>
        <p:spPr>
          <a:xfrm>
            <a:off x="5046425" y="2571750"/>
            <a:ext cx="516600" cy="5100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p:nvPr/>
        </p:nvSpPr>
        <p:spPr>
          <a:xfrm>
            <a:off x="7935250" y="2571750"/>
            <a:ext cx="516600" cy="5100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1"/>
          <p:cNvSpPr/>
          <p:nvPr/>
        </p:nvSpPr>
        <p:spPr>
          <a:xfrm>
            <a:off x="6455600" y="1625650"/>
            <a:ext cx="516600" cy="510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t>A</a:t>
            </a:r>
            <a:endParaRPr b="1" sz="1800"/>
          </a:p>
        </p:txBody>
      </p:sp>
      <p:sp>
        <p:nvSpPr>
          <p:cNvPr id="208" name="Google Shape;208;p31"/>
          <p:cNvSpPr/>
          <p:nvPr/>
        </p:nvSpPr>
        <p:spPr>
          <a:xfrm>
            <a:off x="6455600" y="3774375"/>
            <a:ext cx="516600" cy="510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t>B</a:t>
            </a:r>
            <a:endParaRPr b="1" sz="1800"/>
          </a:p>
        </p:txBody>
      </p:sp>
      <p:cxnSp>
        <p:nvCxnSpPr>
          <p:cNvPr id="209" name="Google Shape;209;p31"/>
          <p:cNvCxnSpPr>
            <a:stCxn id="205" idx="7"/>
            <a:endCxn id="207" idx="3"/>
          </p:cNvCxnSpPr>
          <p:nvPr/>
        </p:nvCxnSpPr>
        <p:spPr>
          <a:xfrm flipH="1" rot="10800000">
            <a:off x="5487371" y="2060838"/>
            <a:ext cx="1044000" cy="585600"/>
          </a:xfrm>
          <a:prstGeom prst="straightConnector1">
            <a:avLst/>
          </a:prstGeom>
          <a:noFill/>
          <a:ln cap="flat" cmpd="sng" w="9525">
            <a:solidFill>
              <a:schemeClr val="dk2"/>
            </a:solidFill>
            <a:prstDash val="solid"/>
            <a:round/>
            <a:headEnd len="med" w="med" type="none"/>
            <a:tailEnd len="med" w="med" type="triangle"/>
          </a:ln>
        </p:spPr>
      </p:cxnSp>
      <p:sp>
        <p:nvSpPr>
          <p:cNvPr id="210" name="Google Shape;210;p31"/>
          <p:cNvSpPr txBox="1"/>
          <p:nvPr/>
        </p:nvSpPr>
        <p:spPr>
          <a:xfrm>
            <a:off x="5692300" y="2060150"/>
            <a:ext cx="3522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5</a:t>
            </a:r>
            <a:endParaRPr/>
          </a:p>
        </p:txBody>
      </p:sp>
      <p:cxnSp>
        <p:nvCxnSpPr>
          <p:cNvPr id="211" name="Google Shape;211;p31"/>
          <p:cNvCxnSpPr>
            <a:stCxn id="205" idx="5"/>
            <a:endCxn id="208" idx="1"/>
          </p:cNvCxnSpPr>
          <p:nvPr/>
        </p:nvCxnSpPr>
        <p:spPr>
          <a:xfrm>
            <a:off x="5487371" y="3007062"/>
            <a:ext cx="1044000" cy="842100"/>
          </a:xfrm>
          <a:prstGeom prst="straightConnector1">
            <a:avLst/>
          </a:prstGeom>
          <a:noFill/>
          <a:ln cap="flat" cmpd="sng" w="9525">
            <a:solidFill>
              <a:schemeClr val="dk2"/>
            </a:solidFill>
            <a:prstDash val="solid"/>
            <a:round/>
            <a:headEnd len="med" w="med" type="none"/>
            <a:tailEnd len="med" w="med" type="triangle"/>
          </a:ln>
        </p:spPr>
      </p:cxnSp>
      <p:cxnSp>
        <p:nvCxnSpPr>
          <p:cNvPr id="212" name="Google Shape;212;p31"/>
          <p:cNvCxnSpPr>
            <a:stCxn id="207" idx="6"/>
            <a:endCxn id="206" idx="1"/>
          </p:cNvCxnSpPr>
          <p:nvPr/>
        </p:nvCxnSpPr>
        <p:spPr>
          <a:xfrm>
            <a:off x="6972200" y="1880650"/>
            <a:ext cx="1038600" cy="765900"/>
          </a:xfrm>
          <a:prstGeom prst="straightConnector1">
            <a:avLst/>
          </a:prstGeom>
          <a:noFill/>
          <a:ln cap="flat" cmpd="sng" w="9525">
            <a:solidFill>
              <a:schemeClr val="dk2"/>
            </a:solidFill>
            <a:prstDash val="dash"/>
            <a:round/>
            <a:headEnd len="med" w="med" type="none"/>
            <a:tailEnd len="med" w="med" type="triangle"/>
          </a:ln>
        </p:spPr>
      </p:cxnSp>
      <p:cxnSp>
        <p:nvCxnSpPr>
          <p:cNvPr id="213" name="Google Shape;213;p31"/>
          <p:cNvCxnSpPr>
            <a:stCxn id="208" idx="6"/>
            <a:endCxn id="206" idx="3"/>
          </p:cNvCxnSpPr>
          <p:nvPr/>
        </p:nvCxnSpPr>
        <p:spPr>
          <a:xfrm flipH="1" rot="10800000">
            <a:off x="6972200" y="3006975"/>
            <a:ext cx="1038600" cy="1022400"/>
          </a:xfrm>
          <a:prstGeom prst="straightConnector1">
            <a:avLst/>
          </a:prstGeom>
          <a:noFill/>
          <a:ln cap="flat" cmpd="sng" w="9525">
            <a:solidFill>
              <a:schemeClr val="dk2"/>
            </a:solidFill>
            <a:prstDash val="dash"/>
            <a:round/>
            <a:headEnd len="med" w="med" type="none"/>
            <a:tailEnd len="med" w="med" type="triangle"/>
          </a:ln>
        </p:spPr>
      </p:cxnSp>
      <p:sp>
        <p:nvSpPr>
          <p:cNvPr id="214" name="Google Shape;214;p31"/>
          <p:cNvSpPr txBox="1"/>
          <p:nvPr/>
        </p:nvSpPr>
        <p:spPr>
          <a:xfrm>
            <a:off x="5868375" y="3081750"/>
            <a:ext cx="282000" cy="2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215" name="Google Shape;215;p31"/>
          <p:cNvSpPr txBox="1"/>
          <p:nvPr/>
        </p:nvSpPr>
        <p:spPr>
          <a:xfrm>
            <a:off x="7371575" y="1714675"/>
            <a:ext cx="14208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h(A) = 1</a:t>
            </a:r>
            <a:endParaRPr/>
          </a:p>
          <a:p>
            <a:pPr indent="0" lvl="0" marL="0" rtl="0" algn="l">
              <a:spcBef>
                <a:spcPts val="0"/>
              </a:spcBef>
              <a:spcAft>
                <a:spcPts val="0"/>
              </a:spcAft>
              <a:buNone/>
            </a:pPr>
            <a:r>
              <a:rPr lang="en"/>
              <a:t>real = 4</a:t>
            </a:r>
            <a:endParaRPr/>
          </a:p>
          <a:p>
            <a:pPr indent="0" lvl="0" marL="0" rtl="0" algn="l">
              <a:spcBef>
                <a:spcPts val="0"/>
              </a:spcBef>
              <a:spcAft>
                <a:spcPts val="0"/>
              </a:spcAft>
              <a:buNone/>
            </a:pPr>
            <a:r>
              <a:t/>
            </a:r>
            <a:endParaRPr/>
          </a:p>
        </p:txBody>
      </p:sp>
      <p:sp>
        <p:nvSpPr>
          <p:cNvPr id="216" name="Google Shape;216;p31"/>
          <p:cNvSpPr txBox="1"/>
          <p:nvPr/>
        </p:nvSpPr>
        <p:spPr>
          <a:xfrm>
            <a:off x="7371575" y="3428825"/>
            <a:ext cx="1420800" cy="51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h(B) = 4</a:t>
            </a:r>
            <a:endParaRPr/>
          </a:p>
          <a:p>
            <a:pPr indent="0" lvl="0" marL="0" rtl="0" algn="l">
              <a:spcBef>
                <a:spcPts val="0"/>
              </a:spcBef>
              <a:spcAft>
                <a:spcPts val="0"/>
              </a:spcAft>
              <a:buNone/>
            </a:pPr>
            <a:r>
              <a:rPr lang="en"/>
              <a:t>real = 4</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nvSpPr>
        <p:spPr>
          <a:xfrm>
            <a:off x="172975" y="721425"/>
            <a:ext cx="4470600" cy="4316400"/>
          </a:xfrm>
          <a:prstGeom prst="rect">
            <a:avLst/>
          </a:prstGeom>
          <a:noFill/>
          <a:ln>
            <a:noFill/>
          </a:ln>
        </p:spPr>
        <p:txBody>
          <a:bodyPr anchorCtr="0" anchor="t" bIns="91425" lIns="91425" spcFirstLastPara="1" rIns="91425" wrap="square" tIns="91425">
            <a:noAutofit/>
          </a:bodyPr>
          <a:lstStyle/>
          <a:p>
            <a:pPr indent="0" lvl="0" marL="1371600" rtl="0" algn="l">
              <a:spcBef>
                <a:spcPts val="0"/>
              </a:spcBef>
              <a:spcAft>
                <a:spcPts val="0"/>
              </a:spcAft>
              <a:buNone/>
            </a:pPr>
            <a:r>
              <a:rPr lang="en" sz="2400">
                <a:solidFill>
                  <a:schemeClr val="dk1"/>
                </a:solidFill>
                <a:latin typeface="Times New Roman"/>
                <a:ea typeface="Times New Roman"/>
                <a:cs typeface="Times New Roman"/>
                <a:sym typeface="Times New Roman"/>
              </a:rPr>
              <a:t>BFS/IDDFS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222" name="Google Shape;222;p32"/>
          <p:cNvSpPr/>
          <p:nvPr/>
        </p:nvSpPr>
        <p:spPr>
          <a:xfrm>
            <a:off x="620976" y="1795950"/>
            <a:ext cx="3574584" cy="28217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2"/>
          <p:cNvSpPr/>
          <p:nvPr/>
        </p:nvSpPr>
        <p:spPr>
          <a:xfrm>
            <a:off x="1519513" y="2379263"/>
            <a:ext cx="1777500" cy="1655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2"/>
          <p:cNvSpPr/>
          <p:nvPr/>
        </p:nvSpPr>
        <p:spPr>
          <a:xfrm>
            <a:off x="1758313" y="2618063"/>
            <a:ext cx="1299900" cy="1177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2"/>
          <p:cNvSpPr/>
          <p:nvPr/>
        </p:nvSpPr>
        <p:spPr>
          <a:xfrm>
            <a:off x="2053513" y="2890913"/>
            <a:ext cx="709500" cy="63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2"/>
          <p:cNvSpPr/>
          <p:nvPr/>
        </p:nvSpPr>
        <p:spPr>
          <a:xfrm>
            <a:off x="2241913" y="3057113"/>
            <a:ext cx="332700" cy="2994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2"/>
          <p:cNvSpPr/>
          <p:nvPr/>
        </p:nvSpPr>
        <p:spPr>
          <a:xfrm>
            <a:off x="2878488" y="2618063"/>
            <a:ext cx="332700" cy="2994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8" name="Google Shape;228;p32"/>
          <p:cNvCxnSpPr>
            <a:stCxn id="226" idx="7"/>
            <a:endCxn id="227" idx="3"/>
          </p:cNvCxnSpPr>
          <p:nvPr/>
        </p:nvCxnSpPr>
        <p:spPr>
          <a:xfrm flipH="1" rot="10800000">
            <a:off x="2525890" y="2873559"/>
            <a:ext cx="401400" cy="227400"/>
          </a:xfrm>
          <a:prstGeom prst="straightConnector1">
            <a:avLst/>
          </a:prstGeom>
          <a:noFill/>
          <a:ln cap="flat" cmpd="sng" w="19050">
            <a:solidFill>
              <a:schemeClr val="dk2"/>
            </a:solidFill>
            <a:prstDash val="solid"/>
            <a:round/>
            <a:headEnd len="med" w="med" type="none"/>
            <a:tailEnd len="med" w="med" type="none"/>
          </a:ln>
        </p:spPr>
      </p:cxnSp>
      <p:sp>
        <p:nvSpPr>
          <p:cNvPr id="229" name="Google Shape;229;p32"/>
          <p:cNvSpPr txBox="1"/>
          <p:nvPr/>
        </p:nvSpPr>
        <p:spPr>
          <a:xfrm>
            <a:off x="4482450" y="829050"/>
            <a:ext cx="4470600" cy="4316400"/>
          </a:xfrm>
          <a:prstGeom prst="rect">
            <a:avLst/>
          </a:prstGeom>
          <a:noFill/>
          <a:ln>
            <a:noFill/>
          </a:ln>
        </p:spPr>
        <p:txBody>
          <a:bodyPr anchorCtr="0" anchor="t" bIns="91425" lIns="91425" spcFirstLastPara="1" rIns="91425" wrap="square" tIns="91425">
            <a:noAutofit/>
          </a:bodyPr>
          <a:lstStyle/>
          <a:p>
            <a:pPr indent="457200" lvl="0" marL="1371600" rtl="0" algn="l">
              <a:spcBef>
                <a:spcPts val="0"/>
              </a:spcBef>
              <a:spcAft>
                <a:spcPts val="0"/>
              </a:spcAft>
              <a:buNone/>
            </a:pPr>
            <a:r>
              <a:rPr lang="en"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
        <p:nvSpPr>
          <p:cNvPr id="230" name="Google Shape;230;p32"/>
          <p:cNvSpPr/>
          <p:nvPr/>
        </p:nvSpPr>
        <p:spPr>
          <a:xfrm>
            <a:off x="4766051" y="1795950"/>
            <a:ext cx="3574584" cy="2821716"/>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2"/>
          <p:cNvSpPr/>
          <p:nvPr/>
        </p:nvSpPr>
        <p:spPr>
          <a:xfrm>
            <a:off x="6142197" y="2379272"/>
            <a:ext cx="1299900" cy="1301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2"/>
          <p:cNvSpPr/>
          <p:nvPr/>
        </p:nvSpPr>
        <p:spPr>
          <a:xfrm>
            <a:off x="6220750" y="2618075"/>
            <a:ext cx="915900" cy="968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2"/>
          <p:cNvSpPr/>
          <p:nvPr/>
        </p:nvSpPr>
        <p:spPr>
          <a:xfrm>
            <a:off x="6302950" y="2837625"/>
            <a:ext cx="610800" cy="631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2"/>
          <p:cNvSpPr/>
          <p:nvPr/>
        </p:nvSpPr>
        <p:spPr>
          <a:xfrm>
            <a:off x="6386988" y="3057113"/>
            <a:ext cx="332700" cy="2994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2"/>
          <p:cNvSpPr/>
          <p:nvPr/>
        </p:nvSpPr>
        <p:spPr>
          <a:xfrm>
            <a:off x="7023563" y="2618063"/>
            <a:ext cx="332700" cy="2994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6" name="Google Shape;236;p32"/>
          <p:cNvCxnSpPr>
            <a:stCxn id="234" idx="7"/>
            <a:endCxn id="235" idx="3"/>
          </p:cNvCxnSpPr>
          <p:nvPr/>
        </p:nvCxnSpPr>
        <p:spPr>
          <a:xfrm flipH="1" rot="10800000">
            <a:off x="6670965" y="2873559"/>
            <a:ext cx="401400" cy="2274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Optimizing </a:t>
            </a:r>
            <a:r>
              <a:rPr lang="en" sz="2400">
                <a:solidFill>
                  <a:schemeClr val="dk1"/>
                </a:solidFill>
                <a:latin typeface="Times New Roman"/>
                <a:ea typeface="Times New Roman"/>
                <a:cs typeface="Times New Roman"/>
                <a:sym typeface="Times New Roman"/>
              </a:rPr>
              <a:t>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Consistent heuristic: h(A) ≤ h(A,B) + h(B) if B is </a:t>
            </a:r>
            <a:r>
              <a:rPr lang="en" sz="2400">
                <a:solidFill>
                  <a:schemeClr val="dk1"/>
                </a:solidFill>
                <a:latin typeface="Times New Roman"/>
                <a:ea typeface="Times New Roman"/>
                <a:cs typeface="Times New Roman"/>
                <a:sym typeface="Times New Roman"/>
              </a:rPr>
              <a:t>reachable</a:t>
            </a:r>
            <a:r>
              <a:rPr lang="en" sz="2400">
                <a:solidFill>
                  <a:schemeClr val="dk1"/>
                </a:solidFill>
                <a:latin typeface="Times New Roman"/>
                <a:ea typeface="Times New Roman"/>
                <a:cs typeface="Times New Roman"/>
                <a:sym typeface="Times New Roman"/>
              </a:rPr>
              <a:t> from A</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Simplified Memory Bounded A*</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Prunes (removes) states for which the path was more costly than estimated, up to a set number of states (memory bounded)</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Remembers costs of reaching pruned states from each explored state</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If solution is not found, recovers pruned states and explores them</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ctrTitle"/>
          </p:nvPr>
        </p:nvSpPr>
        <p:spPr>
          <a:xfrm>
            <a:off x="311700" y="744575"/>
            <a:ext cx="3948000" cy="415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Choose a strategy</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Do you want a solution quickly?</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Do you want the best solution?</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Do you want all solutions?</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How much do you know about the problem?</a:t>
            </a:r>
            <a:endParaRPr sz="2200">
              <a:latin typeface="Times New Roman"/>
              <a:ea typeface="Times New Roman"/>
              <a:cs typeface="Times New Roman"/>
              <a:sym typeface="Times New Roman"/>
            </a:endParaRPr>
          </a:p>
          <a:p>
            <a:pPr indent="-368300" lvl="0" marL="457200" rtl="0" algn="l">
              <a:spcBef>
                <a:spcPts val="0"/>
              </a:spcBef>
              <a:spcAft>
                <a:spcPts val="0"/>
              </a:spcAft>
              <a:buSzPts val="2200"/>
              <a:buFont typeface="Times New Roman"/>
              <a:buChar char="●"/>
            </a:pPr>
            <a:r>
              <a:rPr lang="en" sz="2200">
                <a:latin typeface="Times New Roman"/>
                <a:ea typeface="Times New Roman"/>
                <a:cs typeface="Times New Roman"/>
                <a:sym typeface="Times New Roman"/>
              </a:rPr>
              <a:t>Are you sure the state  representation is good enough?</a:t>
            </a:r>
            <a:endParaRPr sz="2200">
              <a:latin typeface="Times New Roman"/>
              <a:ea typeface="Times New Roman"/>
              <a:cs typeface="Times New Roman"/>
              <a:sym typeface="Times New Roman"/>
            </a:endParaRPr>
          </a:p>
        </p:txBody>
      </p:sp>
      <p:pic>
        <p:nvPicPr>
          <p:cNvPr id="247" name="Google Shape;247;p34"/>
          <p:cNvPicPr preferRelativeResize="0"/>
          <p:nvPr/>
        </p:nvPicPr>
        <p:blipFill>
          <a:blip r:embed="rId3">
            <a:alphaModFix/>
          </a:blip>
          <a:stretch>
            <a:fillRect/>
          </a:stretch>
        </p:blipFill>
        <p:spPr>
          <a:xfrm>
            <a:off x="4422425" y="1092125"/>
            <a:ext cx="3453275" cy="33198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txBox="1"/>
          <p:nvPr/>
        </p:nvSpPr>
        <p:spPr>
          <a:xfrm>
            <a:off x="172975" y="721425"/>
            <a:ext cx="42864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Non-deterministic problem space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Stochastic: known possibilities and probabilities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Non-deterministic: known possibilities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Each transition has multiple possible outcomes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AND-OR trees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53" name="Google Shape;253;p35"/>
          <p:cNvSpPr/>
          <p:nvPr/>
        </p:nvSpPr>
        <p:spPr>
          <a:xfrm>
            <a:off x="6837000" y="951200"/>
            <a:ext cx="481500" cy="458100"/>
          </a:xfrm>
          <a:prstGeom prst="flowChar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5"/>
          <p:cNvSpPr/>
          <p:nvPr/>
        </p:nvSpPr>
        <p:spPr>
          <a:xfrm>
            <a:off x="5263825" y="4333200"/>
            <a:ext cx="481500" cy="4581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5"/>
          <p:cNvSpPr/>
          <p:nvPr/>
        </p:nvSpPr>
        <p:spPr>
          <a:xfrm>
            <a:off x="6734388" y="4333200"/>
            <a:ext cx="481500" cy="4581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5"/>
          <p:cNvSpPr/>
          <p:nvPr/>
        </p:nvSpPr>
        <p:spPr>
          <a:xfrm>
            <a:off x="8146075" y="2770600"/>
            <a:ext cx="481500" cy="458100"/>
          </a:xfrm>
          <a:prstGeom prst="flowChartSummingJunc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35"/>
          <p:cNvCxnSpPr>
            <a:stCxn id="253" idx="3"/>
            <a:endCxn id="258" idx="7"/>
          </p:cNvCxnSpPr>
          <p:nvPr/>
        </p:nvCxnSpPr>
        <p:spPr>
          <a:xfrm flipH="1">
            <a:off x="6032714" y="1342213"/>
            <a:ext cx="874800" cy="14955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p35"/>
          <p:cNvCxnSpPr>
            <a:stCxn id="253" idx="4"/>
            <a:endCxn id="260" idx="0"/>
          </p:cNvCxnSpPr>
          <p:nvPr/>
        </p:nvCxnSpPr>
        <p:spPr>
          <a:xfrm flipH="1">
            <a:off x="6975150" y="1409300"/>
            <a:ext cx="102600" cy="1361400"/>
          </a:xfrm>
          <a:prstGeom prst="straightConnector1">
            <a:avLst/>
          </a:prstGeom>
          <a:noFill/>
          <a:ln cap="flat" cmpd="sng" w="9525">
            <a:solidFill>
              <a:schemeClr val="dk2"/>
            </a:solidFill>
            <a:prstDash val="solid"/>
            <a:round/>
            <a:headEnd len="med" w="med" type="none"/>
            <a:tailEnd len="med" w="med" type="triangle"/>
          </a:ln>
        </p:spPr>
      </p:cxnSp>
      <p:cxnSp>
        <p:nvCxnSpPr>
          <p:cNvPr id="261" name="Google Shape;261;p35"/>
          <p:cNvCxnSpPr>
            <a:stCxn id="253" idx="5"/>
            <a:endCxn id="256" idx="0"/>
          </p:cNvCxnSpPr>
          <p:nvPr/>
        </p:nvCxnSpPr>
        <p:spPr>
          <a:xfrm>
            <a:off x="7247986" y="1342213"/>
            <a:ext cx="1138800" cy="1428300"/>
          </a:xfrm>
          <a:prstGeom prst="straightConnector1">
            <a:avLst/>
          </a:prstGeom>
          <a:noFill/>
          <a:ln cap="flat" cmpd="sng" w="9525">
            <a:solidFill>
              <a:schemeClr val="dk2"/>
            </a:solidFill>
            <a:prstDash val="solid"/>
            <a:round/>
            <a:headEnd len="med" w="med" type="none"/>
            <a:tailEnd len="med" w="med" type="triangle"/>
          </a:ln>
        </p:spPr>
      </p:cxnSp>
      <p:cxnSp>
        <p:nvCxnSpPr>
          <p:cNvPr id="262" name="Google Shape;262;p35"/>
          <p:cNvCxnSpPr/>
          <p:nvPr/>
        </p:nvCxnSpPr>
        <p:spPr>
          <a:xfrm>
            <a:off x="6549550" y="1972050"/>
            <a:ext cx="469800" cy="106500"/>
          </a:xfrm>
          <a:prstGeom prst="curvedConnector3">
            <a:avLst>
              <a:gd fmla="val 50000" name="adj1"/>
            </a:avLst>
          </a:prstGeom>
          <a:noFill/>
          <a:ln cap="flat" cmpd="sng" w="38100">
            <a:solidFill>
              <a:schemeClr val="dk2"/>
            </a:solidFill>
            <a:prstDash val="solid"/>
            <a:round/>
            <a:headEnd len="med" w="med" type="none"/>
            <a:tailEnd len="med" w="med" type="none"/>
          </a:ln>
        </p:spPr>
      </p:cxnSp>
      <p:sp>
        <p:nvSpPr>
          <p:cNvPr id="258" name="Google Shape;258;p35"/>
          <p:cNvSpPr/>
          <p:nvPr/>
        </p:nvSpPr>
        <p:spPr>
          <a:xfrm>
            <a:off x="5621825" y="2770600"/>
            <a:ext cx="481500" cy="458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5"/>
          <p:cNvSpPr/>
          <p:nvPr/>
        </p:nvSpPr>
        <p:spPr>
          <a:xfrm>
            <a:off x="6734400" y="2770600"/>
            <a:ext cx="481500" cy="458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3" name="Google Shape;263;p35"/>
          <p:cNvCxnSpPr>
            <a:stCxn id="258" idx="4"/>
            <a:endCxn id="254" idx="0"/>
          </p:cNvCxnSpPr>
          <p:nvPr/>
        </p:nvCxnSpPr>
        <p:spPr>
          <a:xfrm flipH="1">
            <a:off x="5504675" y="3228700"/>
            <a:ext cx="357900" cy="1104600"/>
          </a:xfrm>
          <a:prstGeom prst="straightConnector1">
            <a:avLst/>
          </a:prstGeom>
          <a:noFill/>
          <a:ln cap="flat" cmpd="sng" w="9525">
            <a:solidFill>
              <a:schemeClr val="dk2"/>
            </a:solidFill>
            <a:prstDash val="solid"/>
            <a:round/>
            <a:headEnd len="med" w="med" type="none"/>
            <a:tailEnd len="med" w="med" type="triangle"/>
          </a:ln>
        </p:spPr>
      </p:cxnSp>
      <p:cxnSp>
        <p:nvCxnSpPr>
          <p:cNvPr id="264" name="Google Shape;264;p35"/>
          <p:cNvCxnSpPr>
            <a:stCxn id="260" idx="4"/>
            <a:endCxn id="255" idx="0"/>
          </p:cNvCxnSpPr>
          <p:nvPr/>
        </p:nvCxnSpPr>
        <p:spPr>
          <a:xfrm>
            <a:off x="6975150" y="3228700"/>
            <a:ext cx="0" cy="1104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Partially observable problem space: you know what could happen after a transition, you don’t know what will happen after a transition.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270" name="Google Shape;270;p36"/>
          <p:cNvPicPr preferRelativeResize="0"/>
          <p:nvPr/>
        </p:nvPicPr>
        <p:blipFill>
          <a:blip r:embed="rId3">
            <a:alphaModFix/>
          </a:blip>
          <a:stretch>
            <a:fillRect/>
          </a:stretch>
        </p:blipFill>
        <p:spPr>
          <a:xfrm>
            <a:off x="2318025" y="1813350"/>
            <a:ext cx="4011576" cy="3008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Unknowable</a:t>
            </a:r>
            <a:r>
              <a:rPr lang="en" sz="2400">
                <a:solidFill>
                  <a:schemeClr val="dk1"/>
                </a:solidFill>
                <a:latin typeface="Times New Roman"/>
                <a:ea typeface="Times New Roman"/>
                <a:cs typeface="Times New Roman"/>
                <a:sym typeface="Times New Roman"/>
              </a:rPr>
              <a:t> problem space: you don’t know what could happen after a transition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276" name="Google Shape;276;p37"/>
          <p:cNvPicPr preferRelativeResize="0"/>
          <p:nvPr/>
        </p:nvPicPr>
        <p:blipFill>
          <a:blip r:embed="rId3">
            <a:alphaModFix/>
          </a:blip>
          <a:stretch>
            <a:fillRect/>
          </a:stretch>
        </p:blipFill>
        <p:spPr>
          <a:xfrm>
            <a:off x="2186575" y="1711125"/>
            <a:ext cx="4770849" cy="32380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8"/>
          <p:cNvSpPr txBox="1"/>
          <p:nvPr/>
        </p:nvSpPr>
        <p:spPr>
          <a:xfrm>
            <a:off x="172975" y="721425"/>
            <a:ext cx="86475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Next week: Constraint satisfaction problems (Variable based models)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282" name="Google Shape;282;p38"/>
          <p:cNvPicPr preferRelativeResize="0"/>
          <p:nvPr/>
        </p:nvPicPr>
        <p:blipFill>
          <a:blip r:embed="rId3">
            <a:alphaModFix/>
          </a:blip>
          <a:stretch>
            <a:fillRect/>
          </a:stretch>
        </p:blipFill>
        <p:spPr>
          <a:xfrm>
            <a:off x="2886125" y="2269075"/>
            <a:ext cx="2410750" cy="24897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nvSpPr>
        <p:spPr>
          <a:xfrm>
            <a:off x="172975" y="721425"/>
            <a:ext cx="5081400" cy="43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Week 5: Games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Interactive decision problems (games)</a:t>
            </a: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Solution is not built exclusively by your strategy</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Not all final states are the same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Hardest solvable problems in AI.</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NLP problems hardest potentially solvable.</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Times New Roman"/>
              <a:ea typeface="Times New Roman"/>
              <a:cs typeface="Times New Roman"/>
              <a:sym typeface="Times New Roman"/>
            </a:endParaRPr>
          </a:p>
        </p:txBody>
      </p:sp>
      <p:pic>
        <p:nvPicPr>
          <p:cNvPr id="288" name="Google Shape;288;p39"/>
          <p:cNvPicPr preferRelativeResize="0"/>
          <p:nvPr/>
        </p:nvPicPr>
        <p:blipFill>
          <a:blip r:embed="rId3">
            <a:alphaModFix/>
          </a:blip>
          <a:stretch>
            <a:fillRect/>
          </a:stretch>
        </p:blipFill>
        <p:spPr>
          <a:xfrm>
            <a:off x="6071900" y="721425"/>
            <a:ext cx="2247900" cy="2028825"/>
          </a:xfrm>
          <a:prstGeom prst="rect">
            <a:avLst/>
          </a:prstGeom>
          <a:noFill/>
          <a:ln>
            <a:noFill/>
          </a:ln>
        </p:spPr>
      </p:pic>
      <p:pic>
        <p:nvPicPr>
          <p:cNvPr id="289" name="Google Shape;289;p39"/>
          <p:cNvPicPr preferRelativeResize="0"/>
          <p:nvPr/>
        </p:nvPicPr>
        <p:blipFill>
          <a:blip r:embed="rId4">
            <a:alphaModFix/>
          </a:blip>
          <a:stretch>
            <a:fillRect/>
          </a:stretch>
        </p:blipFill>
        <p:spPr>
          <a:xfrm>
            <a:off x="5628500" y="2970824"/>
            <a:ext cx="3286300" cy="1848550"/>
          </a:xfrm>
          <a:prstGeom prst="rect">
            <a:avLst/>
          </a:prstGeom>
          <a:noFill/>
          <a:ln>
            <a:noFill/>
          </a:ln>
        </p:spPr>
      </p:pic>
      <p:sp>
        <p:nvSpPr>
          <p:cNvPr id="290" name="Google Shape;290;p39"/>
          <p:cNvSpPr txBox="1"/>
          <p:nvPr/>
        </p:nvSpPr>
        <p:spPr>
          <a:xfrm>
            <a:off x="6595650" y="1163950"/>
            <a:ext cx="1308000" cy="125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t>?</a:t>
            </a:r>
            <a:endParaRPr sz="7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